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26"/>
  </p:handoutMasterIdLst>
  <p:sldIdLst>
    <p:sldId id="282" r:id="rId2"/>
    <p:sldId id="283" r:id="rId3"/>
    <p:sldId id="284" r:id="rId4"/>
    <p:sldId id="285" r:id="rId5"/>
    <p:sldId id="286" r:id="rId6"/>
    <p:sldId id="287" r:id="rId7"/>
    <p:sldId id="288" r:id="rId8"/>
    <p:sldId id="263" r:id="rId9"/>
    <p:sldId id="264" r:id="rId10"/>
    <p:sldId id="278" r:id="rId11"/>
    <p:sldId id="279" r:id="rId12"/>
    <p:sldId id="289" r:id="rId13"/>
    <p:sldId id="290" r:id="rId14"/>
    <p:sldId id="291" r:id="rId15"/>
    <p:sldId id="292" r:id="rId16"/>
    <p:sldId id="303" r:id="rId17"/>
    <p:sldId id="304" r:id="rId18"/>
    <p:sldId id="305" r:id="rId19"/>
    <p:sldId id="306" r:id="rId20"/>
    <p:sldId id="307" r:id="rId21"/>
    <p:sldId id="308" r:id="rId22"/>
    <p:sldId id="302" r:id="rId23"/>
    <p:sldId id="309" r:id="rId24"/>
    <p:sldId id="310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FF00"/>
    <a:srgbClr val="7A7A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92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2792" y="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BDEBB75E-8834-432F-8263-5584602B14B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94F89CA-C811-46AB-8047-ECC3EC3FA31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398D6B-FA58-43E0-AE46-4CD9DBB5E363}" type="datetimeFigureOut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5DD2B7F-140A-4B1D-9DF1-F5DC3EB9B0D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D9E242D-5295-4185-8C88-F520CA93FD0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7857A0-AE9D-436B-972C-924AED7B2B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37123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EFBA10-433B-4208-8022-A4A4952A92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DD6F658-D78D-439E-AA08-BA9912BE68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05F1B7-C778-4F8D-A3FB-C36CCD6F0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B8995-33E2-443A-9432-76BAD8F8353B}" type="datetimeFigureOut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7011E7-DC70-4EBA-A0EE-35EC32ECF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38651B-2D24-478B-87BC-D6367AA11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633B3-F965-4A4F-A5EE-0D371A120F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4352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6BF850-11EF-4C7D-BB05-317153528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DB2A3B-0A09-467A-8A17-9A5210646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43E00-2252-46F9-B66B-A401D6321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B8995-33E2-443A-9432-76BAD8F8353B}" type="datetimeFigureOut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D938CE-C996-4DB8-92AB-C5207E656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7E1C51-C5D7-485B-A3E7-13477F927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633B3-F965-4A4F-A5EE-0D371A120F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7684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7CB7A7-1697-4F69-92C1-A92E422C0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450967D-D0FE-4F70-A591-B1C82512F9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A3B495-5AB2-49B7-9CDC-9860122E8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B8995-33E2-443A-9432-76BAD8F8353B}" type="datetimeFigureOut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CD36FA-58C5-4849-9630-86DC26C9B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38872F-A29E-484D-B56E-BC43A15AF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633B3-F965-4A4F-A5EE-0D371A120F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806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50A5A8-39EF-4EBC-B447-048D02D4E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C38413-8BA1-4DBA-9129-E492BE9F36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DC3A00A-1F85-4CBC-8504-62BBC8121B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67649E2-4BF6-4792-96B7-C019D0AE6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B8995-33E2-443A-9432-76BAD8F8353B}" type="datetimeFigureOut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F11875-63F0-440F-9A85-2DE3759D4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57FEAA6-93F6-4DCF-A22A-6CEB61E41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633B3-F965-4A4F-A5EE-0D371A120F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3394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EA2BBC-7FC4-45E9-B149-1A04FB1F0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732B3F7-C49B-40A4-9DC4-03FAABB1F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1A11DAE-3E5D-4209-B075-6260EAAC7D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40165CE-4810-46A7-83EF-4CBC9A845C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6888DA4-64B6-4882-8564-88A08F35BD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1EFB66E-0E09-4F6D-8705-DFA9354F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B8995-33E2-443A-9432-76BAD8F8353B}" type="datetimeFigureOut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BA89124-8A38-49D1-982B-18DB2FC8C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1509903-893B-4924-82F2-E606F029C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633B3-F965-4A4F-A5EE-0D371A120F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7491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999980-C66E-45D0-9E5C-A72CA939B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B91B31B-6F35-4BDF-9692-415CEA00B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B8995-33E2-443A-9432-76BAD8F8353B}" type="datetimeFigureOut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E686048-F918-42CA-889B-87578F2A9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554C3EF-C190-4028-AF78-F533F4F91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633B3-F965-4A4F-A5EE-0D371A120F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9681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FD29E82-F5EE-4D7F-BBCB-CA36907CE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B8995-33E2-443A-9432-76BAD8F8353B}" type="datetimeFigureOut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96203AA-4083-4BE5-B654-C21B0518B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0DFD48-B584-48F6-8136-820A230D2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633B3-F965-4A4F-A5EE-0D371A120F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2561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BED157-3FB4-4D25-B058-15982BC80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A57317-B36B-4BBF-9D4F-8B1C54250C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767C249-0B8D-4CA4-AD25-8EBF2A4F55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5B3AF09-8795-4F1B-9C80-27455F622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B8995-33E2-443A-9432-76BAD8F8353B}" type="datetimeFigureOut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ED65C9A-DED8-43AA-915E-B2635E653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515D14D-13B7-4875-A9BD-22C383FB5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633B3-F965-4A4F-A5EE-0D371A120F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5623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1372E7-1A58-4803-9076-7CE229870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898BB29-5C20-46BE-BECF-97C03401C9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374D791-5A25-4E89-8625-5B506FE7D1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BCEAFC7-2E64-465E-8F6D-89BAAB14D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B8995-33E2-443A-9432-76BAD8F8353B}" type="datetimeFigureOut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306F57C-8105-4DD0-910A-4E7255590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790C4E5-3DDA-47F0-84FD-E53879D6F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633B3-F965-4A4F-A5EE-0D371A120F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5352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8E0FEF-4FDA-4945-A2FA-9CFB605C2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430B702-0119-4B0E-A25A-CB665D6763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106F0E-866D-4947-978B-466C09FAC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B8995-33E2-443A-9432-76BAD8F8353B}" type="datetimeFigureOut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8D5E6E-DA92-4119-B464-B4BF91AC5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B6F50C-2625-48A1-B6F6-2AEA8E417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633B3-F965-4A4F-A5EE-0D371A120F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226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973427A-FC76-41D7-B4E6-8FA72DAF52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15AF679-C564-4CB6-82C4-0D07994C2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3B1A41-85A4-4082-8E84-E312A47FE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B8995-33E2-443A-9432-76BAD8F8353B}" type="datetimeFigureOut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D7C775-D98E-4939-9534-F19B14C9A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F2F617-AB70-4A0C-8896-CBBAE248C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633B3-F965-4A4F-A5EE-0D371A120F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51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A7A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8F5B373-983B-4D05-B49A-DCABF930E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2D02E7F-ACE4-466C-B4F2-211984F05E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0A6824-FF19-4744-BFCF-B25A700FDF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1B8995-33E2-443A-9432-76BAD8F8353B}" type="datetimeFigureOut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A5B25D-169F-4E47-A88F-C359955E10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D13ADA-D2E5-4184-BB48-36CFF0D291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9633B3-F965-4A4F-A5EE-0D371A120F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1331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C790191B-2E31-469C-9C66-473B363F5568}"/>
              </a:ext>
            </a:extLst>
          </p:cNvPr>
          <p:cNvSpPr txBox="1"/>
          <p:nvPr/>
        </p:nvSpPr>
        <p:spPr>
          <a:xfrm>
            <a:off x="896331" y="498807"/>
            <a:ext cx="10399339" cy="5860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</a:rPr>
              <a:t>实验任务：</a:t>
            </a:r>
            <a:endParaRPr lang="en-US" altLang="zh-CN" b="1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</a:rPr>
              <a:t>请想象你的国家和另一个国家之间发生了战争</a:t>
            </a:r>
            <a:endParaRPr lang="en-US" altLang="zh-CN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</a:rPr>
              <a:t>你的国家发射了一些导弹打击敌国的士兵，但同时也可能造成一定的平民伤亡</a:t>
            </a:r>
            <a:endParaRPr lang="en-US" altLang="zh-CN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</a:rPr>
              <a:t>你作为军队的指挥官，需要决定是否发射导弹</a:t>
            </a:r>
            <a:endParaRPr lang="en-US" altLang="zh-CN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</a:rPr>
              <a:t>在发射前你将会收到导弹杀伤的预估，报告了某次导弹发射将会造成的伤亡数量</a:t>
            </a:r>
            <a:endParaRPr lang="en-US" altLang="zh-CN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</a:rPr>
              <a:t>伤亡数量包括导弹击杀的</a:t>
            </a:r>
            <a:r>
              <a:rPr lang="zh-CN" altLang="en-US" b="1" dirty="0">
                <a:solidFill>
                  <a:schemeClr val="bg1"/>
                </a:solidFill>
              </a:rPr>
              <a:t>敌国士兵</a:t>
            </a:r>
            <a:r>
              <a:rPr lang="zh-CN" altLang="en-US" dirty="0">
                <a:solidFill>
                  <a:schemeClr val="bg1"/>
                </a:solidFill>
              </a:rPr>
              <a:t>数量，以及误杀的</a:t>
            </a:r>
            <a:r>
              <a:rPr lang="zh-CN" altLang="en-US" b="1" dirty="0">
                <a:solidFill>
                  <a:schemeClr val="bg1"/>
                </a:solidFill>
              </a:rPr>
              <a:t>平民数量</a:t>
            </a:r>
            <a:r>
              <a:rPr lang="zh-CN" altLang="en-US" dirty="0">
                <a:solidFill>
                  <a:schemeClr val="bg1"/>
                </a:solidFill>
              </a:rPr>
              <a:t>（被称为附带伤害）</a:t>
            </a:r>
            <a:endParaRPr lang="en-US" altLang="zh-CN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</a:rPr>
              <a:t>为了使导弹的杀伤效率更高，你需要在击杀的士兵数量</a:t>
            </a:r>
            <a:r>
              <a:rPr lang="zh-CN" altLang="en-US" b="1" u="sng" dirty="0">
                <a:solidFill>
                  <a:schemeClr val="bg1"/>
                </a:solidFill>
              </a:rPr>
              <a:t>不小于</a:t>
            </a:r>
            <a:r>
              <a:rPr lang="en-US" altLang="zh-CN" b="1" u="sng" dirty="0">
                <a:solidFill>
                  <a:schemeClr val="bg1"/>
                </a:solidFill>
              </a:rPr>
              <a:t>7</a:t>
            </a:r>
            <a:r>
              <a:rPr lang="zh-CN" altLang="en-US" dirty="0">
                <a:solidFill>
                  <a:schemeClr val="bg1"/>
                </a:solidFill>
              </a:rPr>
              <a:t>的时候选择</a:t>
            </a:r>
            <a:r>
              <a:rPr lang="zh-CN" altLang="en-US" b="1" u="sng" dirty="0">
                <a:solidFill>
                  <a:schemeClr val="bg1"/>
                </a:solidFill>
              </a:rPr>
              <a:t>发射导弹</a:t>
            </a:r>
            <a:endParaRPr lang="en-US" altLang="zh-CN" b="1" u="sng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</a:rPr>
              <a:t>在击杀的士兵数量</a:t>
            </a:r>
            <a:r>
              <a:rPr lang="zh-CN" altLang="en-US" b="1" u="sng" dirty="0">
                <a:solidFill>
                  <a:schemeClr val="bg1"/>
                </a:solidFill>
              </a:rPr>
              <a:t>不大于</a:t>
            </a:r>
            <a:r>
              <a:rPr lang="en-US" altLang="zh-CN" b="1" u="sng" dirty="0">
                <a:solidFill>
                  <a:schemeClr val="bg1"/>
                </a:solidFill>
              </a:rPr>
              <a:t>2</a:t>
            </a:r>
            <a:r>
              <a:rPr lang="zh-CN" altLang="en-US" dirty="0">
                <a:solidFill>
                  <a:schemeClr val="bg1"/>
                </a:solidFill>
              </a:rPr>
              <a:t>的时候选择</a:t>
            </a:r>
            <a:r>
              <a:rPr lang="zh-CN" altLang="en-US" b="1" u="sng" dirty="0">
                <a:solidFill>
                  <a:schemeClr val="bg1"/>
                </a:solidFill>
              </a:rPr>
              <a:t>不发射导弹</a:t>
            </a:r>
            <a:endParaRPr lang="en-US" altLang="zh-CN" b="1" u="sng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</a:rPr>
              <a:t>当击杀的士兵数量在</a:t>
            </a:r>
            <a:r>
              <a:rPr lang="en-US" altLang="zh-CN" b="1" u="sng" dirty="0">
                <a:solidFill>
                  <a:schemeClr val="bg1"/>
                </a:solidFill>
              </a:rPr>
              <a:t>3</a:t>
            </a:r>
            <a:r>
              <a:rPr lang="zh-CN" altLang="en-US" b="1" u="sng" dirty="0">
                <a:solidFill>
                  <a:schemeClr val="bg1"/>
                </a:solidFill>
              </a:rPr>
              <a:t>到</a:t>
            </a:r>
            <a:r>
              <a:rPr lang="en-US" altLang="zh-CN" b="1" u="sng" dirty="0">
                <a:solidFill>
                  <a:schemeClr val="bg1"/>
                </a:solidFill>
              </a:rPr>
              <a:t>6</a:t>
            </a:r>
            <a:r>
              <a:rPr lang="zh-CN" altLang="en-US" dirty="0">
                <a:solidFill>
                  <a:schemeClr val="bg1"/>
                </a:solidFill>
              </a:rPr>
              <a:t>的时候，你可以</a:t>
            </a:r>
            <a:r>
              <a:rPr lang="zh-CN" altLang="en-US" b="1" u="sng" dirty="0">
                <a:solidFill>
                  <a:schemeClr val="bg1"/>
                </a:solidFill>
              </a:rPr>
              <a:t>自由选择</a:t>
            </a:r>
            <a:r>
              <a:rPr lang="zh-CN" altLang="en-US" dirty="0">
                <a:solidFill>
                  <a:schemeClr val="bg1"/>
                </a:solidFill>
              </a:rPr>
              <a:t>是否发射导弹，选择不会影响实验结果</a:t>
            </a:r>
            <a:endParaRPr lang="en-US" altLang="zh-CN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b="1" u="sng" dirty="0">
                <a:solidFill>
                  <a:schemeClr val="bg1"/>
                </a:solidFill>
              </a:rPr>
              <a:t>按下空格键</a:t>
            </a:r>
            <a:r>
              <a:rPr lang="zh-CN" altLang="en-US" dirty="0">
                <a:solidFill>
                  <a:schemeClr val="bg1"/>
                </a:solidFill>
              </a:rPr>
              <a:t>选择发射导弹，在一定时间内</a:t>
            </a:r>
            <a:r>
              <a:rPr lang="zh-CN" altLang="en-US" b="1" u="sng" dirty="0">
                <a:solidFill>
                  <a:schemeClr val="bg1"/>
                </a:solidFill>
              </a:rPr>
              <a:t>不按键</a:t>
            </a:r>
            <a:r>
              <a:rPr lang="zh-CN" altLang="en-US" dirty="0">
                <a:solidFill>
                  <a:schemeClr val="bg1"/>
                </a:solidFill>
              </a:rPr>
              <a:t>选择不发射导弹</a:t>
            </a:r>
            <a:endParaRPr lang="en-US" altLang="zh-CN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endParaRPr lang="en-US" altLang="zh-CN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实验总共大概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35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分钟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实验过程中请集中注意力，保持头不动，尽量不眨眼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按任意键继续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53442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17D8A26-5A04-45C3-B051-1E49B7959089}"/>
              </a:ext>
            </a:extLst>
          </p:cNvPr>
          <p:cNvSpPr txBox="1"/>
          <p:nvPr/>
        </p:nvSpPr>
        <p:spPr>
          <a:xfrm>
            <a:off x="3048561" y="1332529"/>
            <a:ext cx="6094878" cy="4192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+mn-ea"/>
              </a:rPr>
              <a:t>练习任务：</a:t>
            </a:r>
            <a:endParaRPr lang="en-US" altLang="zh-CN" sz="2000" b="1" dirty="0">
              <a:solidFill>
                <a:schemeClr val="bg1"/>
              </a:solidFill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+mn-ea"/>
              </a:rPr>
              <a:t>接下来将进行</a:t>
            </a:r>
            <a:r>
              <a:rPr lang="en-US" altLang="zh-CN" sz="2000" dirty="0">
                <a:solidFill>
                  <a:schemeClr val="bg1"/>
                </a:solidFill>
                <a:latin typeface="+mn-ea"/>
              </a:rPr>
              <a:t>15</a:t>
            </a:r>
            <a:r>
              <a:rPr lang="zh-CN" altLang="en-US" sz="2000" dirty="0">
                <a:solidFill>
                  <a:schemeClr val="bg1"/>
                </a:solidFill>
                <a:latin typeface="+mn-ea"/>
              </a:rPr>
              <a:t>次的练习</a:t>
            </a:r>
            <a:endParaRPr lang="en-US" altLang="zh-CN" sz="2000" dirty="0">
              <a:solidFill>
                <a:schemeClr val="bg1"/>
              </a:solidFill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+mn-ea"/>
              </a:rPr>
              <a:t>在做出正确的导弹发射决定之后会呈现绿色的</a:t>
            </a:r>
            <a:r>
              <a:rPr lang="zh-CN" altLang="en-US" sz="2000" dirty="0">
                <a:solidFill>
                  <a:srgbClr val="00FF00"/>
                </a:solidFill>
                <a:latin typeface="+mn-ea"/>
              </a:rPr>
              <a:t>√</a:t>
            </a:r>
            <a:endParaRPr lang="en-US" altLang="zh-CN" sz="2000" dirty="0">
              <a:solidFill>
                <a:srgbClr val="00FF00"/>
              </a:solidFill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+mn-ea"/>
              </a:rPr>
              <a:t>反之，做出错误的导弹发射决定后，会呈现红色的</a:t>
            </a:r>
            <a:r>
              <a:rPr lang="en-US" altLang="zh-CN" sz="2000" dirty="0">
                <a:solidFill>
                  <a:srgbClr val="FF0000"/>
                </a:solidFill>
                <a:latin typeface="+mn-ea"/>
              </a:rPr>
              <a:t>×</a:t>
            </a: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+mn-ea"/>
              </a:rPr>
              <a:t>当可以自由选择的时候不会呈现绿色的</a:t>
            </a:r>
            <a:r>
              <a:rPr lang="zh-CN" altLang="en-US" sz="2000" dirty="0">
                <a:solidFill>
                  <a:srgbClr val="00FF00"/>
                </a:solidFill>
                <a:latin typeface="+mn-ea"/>
              </a:rPr>
              <a:t>√</a:t>
            </a:r>
            <a:r>
              <a:rPr lang="zh-CN" altLang="en-US" sz="2000" dirty="0">
                <a:solidFill>
                  <a:schemeClr val="bg1"/>
                </a:solidFill>
                <a:latin typeface="+mn-ea"/>
              </a:rPr>
              <a:t>或红色的</a:t>
            </a:r>
            <a:r>
              <a:rPr lang="en-US" altLang="zh-CN" sz="2000" dirty="0">
                <a:solidFill>
                  <a:srgbClr val="FF0000"/>
                </a:solidFill>
                <a:latin typeface="+mn-ea"/>
              </a:rPr>
              <a:t>×</a:t>
            </a:r>
          </a:p>
          <a:p>
            <a:pPr algn="ctr">
              <a:lnSpc>
                <a:spcPct val="150000"/>
              </a:lnSpc>
            </a:pPr>
            <a:endParaRPr lang="en-US" altLang="zh-CN" sz="2000" dirty="0">
              <a:solidFill>
                <a:schemeClr val="bg1"/>
              </a:solidFill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+mn-ea"/>
              </a:rPr>
              <a:t>练习部分大概</a:t>
            </a:r>
            <a:r>
              <a:rPr lang="en-US" altLang="zh-CN" sz="2000" b="1" dirty="0">
                <a:solidFill>
                  <a:schemeClr val="bg1"/>
                </a:solidFill>
                <a:latin typeface="+mn-ea"/>
              </a:rPr>
              <a:t>5</a:t>
            </a:r>
            <a:r>
              <a:rPr lang="zh-CN" altLang="en-US" sz="2000" b="1" dirty="0">
                <a:solidFill>
                  <a:schemeClr val="bg1"/>
                </a:solidFill>
                <a:latin typeface="+mn-ea"/>
              </a:rPr>
              <a:t>分钟</a:t>
            </a:r>
            <a:endParaRPr lang="en-US" altLang="zh-CN" sz="2000" b="1" dirty="0">
              <a:solidFill>
                <a:schemeClr val="bg1"/>
              </a:solidFill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+mn-ea"/>
              </a:rPr>
              <a:t>实验过程中请集中注意力，保持头不动，尽量不眨眼</a:t>
            </a:r>
            <a:endParaRPr lang="en-US" altLang="zh-CN" sz="2000" b="1" dirty="0">
              <a:solidFill>
                <a:schemeClr val="bg1"/>
              </a:solidFill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+mn-ea"/>
              </a:rPr>
              <a:t>按任意键继续</a:t>
            </a:r>
            <a:endParaRPr lang="en-US" altLang="zh-CN" sz="2000" b="1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07367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2C2BC27-AF14-405A-B106-8B4C32031551}"/>
              </a:ext>
            </a:extLst>
          </p:cNvPr>
          <p:cNvSpPr txBox="1"/>
          <p:nvPr/>
        </p:nvSpPr>
        <p:spPr>
          <a:xfrm>
            <a:off x="3048561" y="1332529"/>
            <a:ext cx="6094878" cy="4192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</a:rPr>
              <a:t>正式实验任务：</a:t>
            </a:r>
            <a:endParaRPr lang="en-US" altLang="zh-CN" sz="2000" b="1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</a:rPr>
              <a:t>接下来将开始正式实验</a:t>
            </a:r>
            <a:endParaRPr lang="en-US" altLang="zh-CN" sz="2000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</a:rPr>
              <a:t>屏幕上会呈现导弹发射造成的士兵伤亡和平民伤亡</a:t>
            </a:r>
            <a:endParaRPr lang="en-US" altLang="zh-CN" sz="2000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</a:rPr>
              <a:t>请根据要求做出正确的发射决定</a:t>
            </a:r>
            <a:endParaRPr lang="en-US" altLang="zh-CN" sz="2000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</a:rPr>
              <a:t>正式实验部分</a:t>
            </a:r>
            <a:r>
              <a:rPr lang="zh-CN" altLang="en-US" sz="2000" b="1" dirty="0">
                <a:solidFill>
                  <a:schemeClr val="bg1"/>
                </a:solidFill>
              </a:rPr>
              <a:t>将不会出现</a:t>
            </a:r>
            <a:r>
              <a:rPr lang="zh-CN" altLang="en-US" sz="2000" dirty="0">
                <a:solidFill>
                  <a:schemeClr val="bg1"/>
                </a:solidFill>
              </a:rPr>
              <a:t>绿色的</a:t>
            </a:r>
            <a:r>
              <a:rPr lang="zh-CN" altLang="en-US" sz="2000" dirty="0">
                <a:solidFill>
                  <a:srgbClr val="00FF00"/>
                </a:solidFill>
              </a:rPr>
              <a:t>√</a:t>
            </a:r>
            <a:r>
              <a:rPr lang="zh-CN" altLang="en-US" sz="2000" dirty="0">
                <a:solidFill>
                  <a:schemeClr val="bg1"/>
                </a:solidFill>
              </a:rPr>
              <a:t>或者红色的</a:t>
            </a:r>
            <a:r>
              <a:rPr lang="en-US" altLang="zh-CN" sz="2000" dirty="0">
                <a:solidFill>
                  <a:srgbClr val="FF0000"/>
                </a:solidFill>
              </a:rPr>
              <a:t>×</a:t>
            </a:r>
          </a:p>
          <a:p>
            <a:pPr algn="ctr">
              <a:lnSpc>
                <a:spcPct val="150000"/>
              </a:lnSpc>
            </a:pPr>
            <a:endParaRPr lang="en-US" altLang="zh-CN" sz="2000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+mn-ea"/>
              </a:rPr>
              <a:t>正式实验部分大概</a:t>
            </a:r>
            <a:r>
              <a:rPr lang="en-US" altLang="zh-CN" sz="2000" b="1" dirty="0">
                <a:solidFill>
                  <a:schemeClr val="bg1"/>
                </a:solidFill>
                <a:latin typeface="+mn-ea"/>
              </a:rPr>
              <a:t>30</a:t>
            </a:r>
            <a:r>
              <a:rPr lang="zh-CN" altLang="en-US" sz="2000" b="1" dirty="0">
                <a:solidFill>
                  <a:schemeClr val="bg1"/>
                </a:solidFill>
                <a:latin typeface="+mn-ea"/>
              </a:rPr>
              <a:t>分钟</a:t>
            </a:r>
            <a:endParaRPr lang="en-US" altLang="zh-CN" sz="2000" b="1" dirty="0">
              <a:solidFill>
                <a:schemeClr val="bg1"/>
              </a:solidFill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+mn-ea"/>
              </a:rPr>
              <a:t>实验过程中请集中注意力，保持头不动，尽量不眨眼</a:t>
            </a:r>
            <a:endParaRPr lang="en-US" altLang="zh-CN" sz="2000" b="1" dirty="0">
              <a:solidFill>
                <a:schemeClr val="bg1"/>
              </a:solidFill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+mn-ea"/>
              </a:rPr>
              <a:t>按任意键继续</a:t>
            </a:r>
            <a:endParaRPr lang="en-US" altLang="zh-CN" sz="2000" b="1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14568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F2E6AF7-8F1E-44A1-BFF2-EA12BEAADB49}"/>
              </a:ext>
            </a:extLst>
          </p:cNvPr>
          <p:cNvSpPr txBox="1"/>
          <p:nvPr/>
        </p:nvSpPr>
        <p:spPr>
          <a:xfrm>
            <a:off x="908797" y="1794674"/>
            <a:ext cx="10374406" cy="3268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</a:rPr>
              <a:t>练习部分出现错误，</a:t>
            </a:r>
            <a:r>
              <a:rPr lang="zh-CN" altLang="en-US" sz="2000" b="1" dirty="0">
                <a:solidFill>
                  <a:schemeClr val="bg1"/>
                </a:solidFill>
              </a:rPr>
              <a:t>请集中注意力！</a:t>
            </a:r>
            <a:endParaRPr lang="en-US" altLang="zh-CN" sz="2000" b="1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</a:rPr>
              <a:t>请在击杀的士兵数量</a:t>
            </a:r>
            <a:r>
              <a:rPr lang="zh-CN" altLang="en-US" sz="2000" b="1" u="sng" dirty="0">
                <a:solidFill>
                  <a:schemeClr val="bg1"/>
                </a:solidFill>
              </a:rPr>
              <a:t>不小于</a:t>
            </a:r>
            <a:r>
              <a:rPr lang="en-US" altLang="zh-CN" sz="2000" b="1" u="sng" dirty="0">
                <a:solidFill>
                  <a:schemeClr val="bg1"/>
                </a:solidFill>
              </a:rPr>
              <a:t>7</a:t>
            </a:r>
            <a:r>
              <a:rPr lang="zh-CN" altLang="en-US" sz="2000" dirty="0">
                <a:solidFill>
                  <a:schemeClr val="bg1"/>
                </a:solidFill>
              </a:rPr>
              <a:t>的时候选择</a:t>
            </a:r>
            <a:r>
              <a:rPr lang="zh-CN" altLang="en-US" sz="2000" b="1" u="sng" dirty="0">
                <a:solidFill>
                  <a:schemeClr val="bg1"/>
                </a:solidFill>
              </a:rPr>
              <a:t>发射导弹</a:t>
            </a:r>
            <a:endParaRPr lang="en-US" altLang="zh-CN" sz="2000" b="1" u="sng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</a:rPr>
              <a:t>在击杀的士兵数量</a:t>
            </a:r>
            <a:r>
              <a:rPr lang="zh-CN" altLang="en-US" sz="2000" b="1" u="sng" dirty="0">
                <a:solidFill>
                  <a:schemeClr val="bg1"/>
                </a:solidFill>
              </a:rPr>
              <a:t>不大于</a:t>
            </a:r>
            <a:r>
              <a:rPr lang="en-US" altLang="zh-CN" sz="2000" b="1" u="sng" dirty="0">
                <a:solidFill>
                  <a:schemeClr val="bg1"/>
                </a:solidFill>
              </a:rPr>
              <a:t>2</a:t>
            </a:r>
            <a:r>
              <a:rPr lang="zh-CN" altLang="en-US" sz="2000" dirty="0">
                <a:solidFill>
                  <a:schemeClr val="bg1"/>
                </a:solidFill>
              </a:rPr>
              <a:t>的时候选择</a:t>
            </a:r>
            <a:r>
              <a:rPr lang="zh-CN" altLang="en-US" sz="2000" b="1" u="sng" dirty="0">
                <a:solidFill>
                  <a:schemeClr val="bg1"/>
                </a:solidFill>
              </a:rPr>
              <a:t>不发射导弹</a:t>
            </a:r>
            <a:endParaRPr lang="en-US" altLang="zh-CN" sz="2000" b="1" u="sng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</a:rPr>
              <a:t>当击杀的士兵数量在</a:t>
            </a:r>
            <a:r>
              <a:rPr lang="en-US" altLang="zh-CN" sz="2000" b="1" dirty="0">
                <a:solidFill>
                  <a:schemeClr val="bg1"/>
                </a:solidFill>
              </a:rPr>
              <a:t>3</a:t>
            </a:r>
            <a:r>
              <a:rPr lang="zh-CN" altLang="en-US" sz="2000" b="1" dirty="0">
                <a:solidFill>
                  <a:schemeClr val="bg1"/>
                </a:solidFill>
              </a:rPr>
              <a:t>到</a:t>
            </a:r>
            <a:r>
              <a:rPr lang="en-US" altLang="zh-CN" sz="2000" b="1" dirty="0">
                <a:solidFill>
                  <a:schemeClr val="bg1"/>
                </a:solidFill>
              </a:rPr>
              <a:t>6</a:t>
            </a:r>
            <a:r>
              <a:rPr lang="zh-CN" altLang="en-US" sz="2000" dirty="0">
                <a:solidFill>
                  <a:schemeClr val="bg1"/>
                </a:solidFill>
              </a:rPr>
              <a:t>的时候，你可以</a:t>
            </a:r>
            <a:r>
              <a:rPr lang="zh-CN" altLang="en-US" sz="2000" b="1" dirty="0">
                <a:solidFill>
                  <a:schemeClr val="bg1"/>
                </a:solidFill>
              </a:rPr>
              <a:t>自由选择</a:t>
            </a:r>
            <a:r>
              <a:rPr lang="zh-CN" altLang="en-US" sz="2000" dirty="0">
                <a:solidFill>
                  <a:schemeClr val="bg1"/>
                </a:solidFill>
              </a:rPr>
              <a:t>是否发射导弹，选择不影响实验结果</a:t>
            </a:r>
            <a:endParaRPr lang="en-US" altLang="zh-CN" sz="2000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b="1" u="sng" dirty="0">
                <a:solidFill>
                  <a:schemeClr val="bg1"/>
                </a:solidFill>
              </a:rPr>
              <a:t>按下空格键</a:t>
            </a:r>
            <a:r>
              <a:rPr lang="zh-CN" altLang="en-US" sz="2000" dirty="0">
                <a:solidFill>
                  <a:schemeClr val="bg1"/>
                </a:solidFill>
              </a:rPr>
              <a:t>选择发射导弹，在一定时间内</a:t>
            </a:r>
            <a:r>
              <a:rPr lang="zh-CN" altLang="en-US" sz="2000" b="1" u="sng" dirty="0">
                <a:solidFill>
                  <a:schemeClr val="bg1"/>
                </a:solidFill>
              </a:rPr>
              <a:t>不按键</a:t>
            </a:r>
            <a:r>
              <a:rPr lang="zh-CN" altLang="en-US" sz="2000" dirty="0">
                <a:solidFill>
                  <a:schemeClr val="bg1"/>
                </a:solidFill>
              </a:rPr>
              <a:t>选择不发射导弹</a:t>
            </a:r>
            <a:endParaRPr lang="en-US" altLang="zh-CN" sz="2000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endParaRPr lang="en-US" altLang="zh-CN" sz="2000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</a:rPr>
              <a:t>按任意键重新开始练习</a:t>
            </a:r>
            <a:r>
              <a:rPr lang="en-US" altLang="zh-CN" dirty="0">
                <a:solidFill>
                  <a:schemeClr val="bg1"/>
                </a:solidFill>
              </a:rPr>
              <a:t>……</a:t>
            </a:r>
          </a:p>
        </p:txBody>
      </p:sp>
    </p:spTree>
    <p:extLst>
      <p:ext uri="{BB962C8B-B14F-4D97-AF65-F5344CB8AC3E}">
        <p14:creationId xmlns:p14="http://schemas.microsoft.com/office/powerpoint/2010/main" val="2476092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895A0A9-170F-412A-8913-4BEC8122616F}"/>
              </a:ext>
            </a:extLst>
          </p:cNvPr>
          <p:cNvSpPr txBox="1"/>
          <p:nvPr/>
        </p:nvSpPr>
        <p:spPr>
          <a:xfrm>
            <a:off x="3025588" y="2944605"/>
            <a:ext cx="6140824" cy="968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+mn-ea"/>
              </a:rPr>
              <a:t>本轮实验错误率较高！请集中注意力</a:t>
            </a:r>
            <a:endParaRPr lang="en-US" altLang="zh-CN" sz="2000" b="1" dirty="0">
              <a:solidFill>
                <a:schemeClr val="bg1"/>
              </a:solidFill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+mn-ea"/>
              </a:rPr>
              <a:t>按任意键继续</a:t>
            </a:r>
          </a:p>
        </p:txBody>
      </p:sp>
    </p:spTree>
    <p:extLst>
      <p:ext uri="{BB962C8B-B14F-4D97-AF65-F5344CB8AC3E}">
        <p14:creationId xmlns:p14="http://schemas.microsoft.com/office/powerpoint/2010/main" val="3676504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8E2AD65-825D-4D69-AEE8-C6860E8341BF}"/>
              </a:ext>
            </a:extLst>
          </p:cNvPr>
          <p:cNvSpPr txBox="1"/>
          <p:nvPr/>
        </p:nvSpPr>
        <p:spPr>
          <a:xfrm>
            <a:off x="1954306" y="2948356"/>
            <a:ext cx="8283388" cy="96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+mn-ea"/>
              </a:rPr>
              <a:t>请休息一下，休息过程中请不要操作电脑</a:t>
            </a:r>
            <a:endParaRPr lang="en-US" altLang="zh-CN" sz="2000" b="1" dirty="0">
              <a:solidFill>
                <a:schemeClr val="bg1"/>
              </a:solidFill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+mn-ea"/>
              </a:rPr>
              <a:t>休息结束后，请呼叫主试帮你开启下一轮实验</a:t>
            </a:r>
          </a:p>
        </p:txBody>
      </p:sp>
    </p:spTree>
    <p:extLst>
      <p:ext uri="{BB962C8B-B14F-4D97-AF65-F5344CB8AC3E}">
        <p14:creationId xmlns:p14="http://schemas.microsoft.com/office/powerpoint/2010/main" val="1207813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8A561A1-100D-4232-88ED-27CCF1C713FA}"/>
              </a:ext>
            </a:extLst>
          </p:cNvPr>
          <p:cNvSpPr txBox="1"/>
          <p:nvPr/>
        </p:nvSpPr>
        <p:spPr>
          <a:xfrm>
            <a:off x="3013262" y="2898438"/>
            <a:ext cx="6165477" cy="1061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实验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</a:rPr>
              <a:t>部分</a:t>
            </a:r>
            <a:r>
              <a:rPr lang="zh-CN" altLang="en-US" sz="2400" b="1" dirty="0">
                <a:solidFill>
                  <a:schemeClr val="bg1"/>
                </a:solidFill>
              </a:rPr>
              <a:t>已经结束！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</a:rPr>
              <a:t>请等待主试为您摘掉电极帽，随后进行问卷部分</a:t>
            </a:r>
          </a:p>
        </p:txBody>
      </p:sp>
    </p:spTree>
    <p:extLst>
      <p:ext uri="{BB962C8B-B14F-4D97-AF65-F5344CB8AC3E}">
        <p14:creationId xmlns:p14="http://schemas.microsoft.com/office/powerpoint/2010/main" val="1518251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EBB59AF-F035-4034-B11B-A28636CECC64}"/>
              </a:ext>
            </a:extLst>
          </p:cNvPr>
          <p:cNvSpPr txBox="1"/>
          <p:nvPr/>
        </p:nvSpPr>
        <p:spPr>
          <a:xfrm>
            <a:off x="5816974" y="2875002"/>
            <a:ext cx="55805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b="1" dirty="0">
                <a:solidFill>
                  <a:srgbClr val="00FF00"/>
                </a:solidFill>
              </a:rPr>
              <a:t>√</a:t>
            </a:r>
          </a:p>
        </p:txBody>
      </p:sp>
    </p:spTree>
    <p:extLst>
      <p:ext uri="{BB962C8B-B14F-4D97-AF65-F5344CB8AC3E}">
        <p14:creationId xmlns:p14="http://schemas.microsoft.com/office/powerpoint/2010/main" val="31868459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981531F-53AC-465C-A9A8-C7F1AC0AEE70}"/>
              </a:ext>
            </a:extLst>
          </p:cNvPr>
          <p:cNvSpPr txBox="1"/>
          <p:nvPr/>
        </p:nvSpPr>
        <p:spPr>
          <a:xfrm>
            <a:off x="5816974" y="2875002"/>
            <a:ext cx="55805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600" b="1" dirty="0">
                <a:solidFill>
                  <a:srgbClr val="FF0000"/>
                </a:solidFill>
              </a:rPr>
              <a:t>×</a:t>
            </a:r>
            <a:endParaRPr lang="zh-CN" altLang="en-US" sz="6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3746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E5052E2-D4A7-4919-B641-93471013EB0F}"/>
              </a:ext>
            </a:extLst>
          </p:cNvPr>
          <p:cNvSpPr txBox="1"/>
          <p:nvPr/>
        </p:nvSpPr>
        <p:spPr>
          <a:xfrm>
            <a:off x="4380379" y="3138568"/>
            <a:ext cx="3431242" cy="58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导弹击杀敌国士兵  </a:t>
            </a:r>
            <a:r>
              <a:rPr lang="en-US" altLang="zh-CN" sz="2400" b="1" dirty="0">
                <a:solidFill>
                  <a:schemeClr val="bg1"/>
                </a:solidFill>
              </a:rPr>
              <a:t>0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  <a:endParaRPr lang="en-US" altLang="zh-CN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60525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2A2658C0-41AF-422E-804F-6BA4EE3DA52B}"/>
              </a:ext>
            </a:extLst>
          </p:cNvPr>
          <p:cNvSpPr txBox="1"/>
          <p:nvPr/>
        </p:nvSpPr>
        <p:spPr>
          <a:xfrm>
            <a:off x="4332475" y="3138568"/>
            <a:ext cx="3527051" cy="58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微软雅黑"/>
                <a:cs typeface="+mn-cs"/>
              </a:rPr>
              <a:t>造成其他附带伤害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微软雅黑"/>
                <a:cs typeface="+mn-cs"/>
              </a:rPr>
              <a:t>0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微软雅黑"/>
                <a:cs typeface="+mn-cs"/>
              </a:rPr>
              <a:t>名</a:t>
            </a:r>
          </a:p>
        </p:txBody>
      </p:sp>
    </p:spTree>
    <p:extLst>
      <p:ext uri="{BB962C8B-B14F-4D97-AF65-F5344CB8AC3E}">
        <p14:creationId xmlns:p14="http://schemas.microsoft.com/office/powerpoint/2010/main" val="1589564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BE630AE-EE94-4975-9B2D-BB4E765401B7}"/>
              </a:ext>
            </a:extLst>
          </p:cNvPr>
          <p:cNvSpPr txBox="1"/>
          <p:nvPr/>
        </p:nvSpPr>
        <p:spPr>
          <a:xfrm>
            <a:off x="3386416" y="941293"/>
            <a:ext cx="5419165" cy="1422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</a:rPr>
              <a:t>练习结束！</a:t>
            </a:r>
            <a:endParaRPr lang="en-US" altLang="zh-CN" sz="2000" b="1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</a:rPr>
              <a:t>在正式实验中，信息会显示得更加简略</a:t>
            </a:r>
            <a:endParaRPr lang="en-US" altLang="zh-CN" sz="2000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</a:rPr>
              <a:t>如下所示，括号里的文字将被省略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79CB979-C5F9-4008-93CB-5DAFC1049DDE}"/>
              </a:ext>
            </a:extLst>
          </p:cNvPr>
          <p:cNvSpPr txBox="1"/>
          <p:nvPr/>
        </p:nvSpPr>
        <p:spPr>
          <a:xfrm>
            <a:off x="4033557" y="3138568"/>
            <a:ext cx="4124887" cy="58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</a:rPr>
              <a:t>【</a:t>
            </a:r>
            <a:r>
              <a:rPr lang="zh-CN" altLang="en-US" sz="2400" b="1" dirty="0">
                <a:solidFill>
                  <a:schemeClr val="bg1"/>
                </a:solidFill>
              </a:rPr>
              <a:t>导弹击杀敌国</a:t>
            </a:r>
            <a:r>
              <a:rPr lang="en-US" altLang="zh-CN" sz="2400" b="1" dirty="0">
                <a:solidFill>
                  <a:schemeClr val="bg1"/>
                </a:solidFill>
              </a:rPr>
              <a:t>】</a:t>
            </a:r>
            <a:r>
              <a:rPr lang="zh-CN" altLang="en-US" sz="2400" b="1" dirty="0">
                <a:solidFill>
                  <a:schemeClr val="bg1"/>
                </a:solidFill>
              </a:rPr>
              <a:t>士兵  </a:t>
            </a:r>
            <a:r>
              <a:rPr lang="en-US" altLang="zh-CN" sz="2400" b="1" dirty="0">
                <a:solidFill>
                  <a:schemeClr val="bg1"/>
                </a:solidFill>
              </a:rPr>
              <a:t>0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  <a:endParaRPr lang="en-US" altLang="zh-CN" sz="2400" b="1" dirty="0">
              <a:solidFill>
                <a:schemeClr val="bg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AA31974-9AFD-47CC-9F59-749E28F0F5AE}"/>
              </a:ext>
            </a:extLst>
          </p:cNvPr>
          <p:cNvSpPr txBox="1"/>
          <p:nvPr/>
        </p:nvSpPr>
        <p:spPr>
          <a:xfrm>
            <a:off x="4962945" y="5656140"/>
            <a:ext cx="2266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</a:rPr>
              <a:t>按任意键继续</a:t>
            </a:r>
            <a:r>
              <a:rPr lang="en-US" altLang="zh-CN" sz="2000" dirty="0">
                <a:solidFill>
                  <a:schemeClr val="bg1"/>
                </a:solidFill>
              </a:rPr>
              <a:t>……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73918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2A2658C0-41AF-422E-804F-6BA4EE3DA52B}"/>
              </a:ext>
            </a:extLst>
          </p:cNvPr>
          <p:cNvSpPr txBox="1"/>
          <p:nvPr/>
        </p:nvSpPr>
        <p:spPr>
          <a:xfrm>
            <a:off x="4033138" y="3138568"/>
            <a:ext cx="4125725" cy="58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微软雅黑"/>
                <a:cs typeface="+mn-cs"/>
              </a:rPr>
              <a:t>【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微软雅黑"/>
                <a:cs typeface="+mn-cs"/>
              </a:rPr>
              <a:t>造成其他附带伤害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微软雅黑"/>
                <a:cs typeface="+mn-cs"/>
              </a:rPr>
              <a:t>】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微软雅黑"/>
                <a:cs typeface="+mn-cs"/>
              </a:rPr>
              <a:t>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微软雅黑"/>
                <a:cs typeface="+mn-cs"/>
              </a:rPr>
              <a:t>0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微软雅黑"/>
                <a:cs typeface="+mn-cs"/>
              </a:rPr>
              <a:t>名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161D505-A698-4BEF-A534-68DD252CBB38}"/>
              </a:ext>
            </a:extLst>
          </p:cNvPr>
          <p:cNvSpPr txBox="1"/>
          <p:nvPr/>
        </p:nvSpPr>
        <p:spPr>
          <a:xfrm>
            <a:off x="3386416" y="941293"/>
            <a:ext cx="5419165" cy="1422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</a:rPr>
              <a:t>练习结束！</a:t>
            </a:r>
            <a:endParaRPr lang="en-US" altLang="zh-CN" sz="2000" b="1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</a:rPr>
              <a:t>在正式实验中，信息会显示得更加简略</a:t>
            </a:r>
            <a:endParaRPr lang="en-US" altLang="zh-CN" sz="2000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</a:rPr>
              <a:t>如下所示，括号里的文字将被省略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442E7BC-AA85-4186-B2E1-EAD071EEE63C}"/>
              </a:ext>
            </a:extLst>
          </p:cNvPr>
          <p:cNvSpPr txBox="1"/>
          <p:nvPr/>
        </p:nvSpPr>
        <p:spPr>
          <a:xfrm>
            <a:off x="4962945" y="5656140"/>
            <a:ext cx="2266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</a:rPr>
              <a:t>按任意键继续</a:t>
            </a:r>
            <a:r>
              <a:rPr lang="en-US" altLang="zh-CN" sz="2000" dirty="0">
                <a:solidFill>
                  <a:schemeClr val="bg1"/>
                </a:solidFill>
              </a:rPr>
              <a:t>……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16349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50BCE79-41B5-4A11-A16E-D72E859C3342}"/>
              </a:ext>
            </a:extLst>
          </p:cNvPr>
          <p:cNvSpPr txBox="1"/>
          <p:nvPr/>
        </p:nvSpPr>
        <p:spPr>
          <a:xfrm>
            <a:off x="3386418" y="1277470"/>
            <a:ext cx="5419165" cy="499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</a:rPr>
              <a:t>正式实验中的伤亡将以这种形式呈现</a:t>
            </a:r>
            <a:endParaRPr lang="en-US" altLang="zh-CN" sz="2000" dirty="0">
              <a:solidFill>
                <a:schemeClr val="bg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B8D21A8-BFAA-44E0-8B8E-6683CA3D2DE4}"/>
              </a:ext>
            </a:extLst>
          </p:cNvPr>
          <p:cNvSpPr txBox="1"/>
          <p:nvPr/>
        </p:nvSpPr>
        <p:spPr>
          <a:xfrm>
            <a:off x="4962945" y="5656140"/>
            <a:ext cx="2266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</a:rPr>
              <a:t>按任意键继续</a:t>
            </a:r>
            <a:r>
              <a:rPr lang="en-US" altLang="zh-CN" sz="2000" dirty="0">
                <a:solidFill>
                  <a:schemeClr val="bg1"/>
                </a:solidFill>
              </a:rPr>
              <a:t>……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70D23B5-1EFC-4466-BB96-381518006F14}"/>
              </a:ext>
            </a:extLst>
          </p:cNvPr>
          <p:cNvSpPr txBox="1"/>
          <p:nvPr/>
        </p:nvSpPr>
        <p:spPr>
          <a:xfrm>
            <a:off x="4865875" y="3138568"/>
            <a:ext cx="2460251" cy="58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士兵    </a:t>
            </a:r>
            <a:r>
              <a:rPr lang="en-US" altLang="zh-CN" sz="2400" b="1" dirty="0">
                <a:solidFill>
                  <a:schemeClr val="bg1"/>
                </a:solidFill>
              </a:rPr>
              <a:t>0 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</a:p>
        </p:txBody>
      </p:sp>
    </p:spTree>
    <p:extLst>
      <p:ext uri="{BB962C8B-B14F-4D97-AF65-F5344CB8AC3E}">
        <p14:creationId xmlns:p14="http://schemas.microsoft.com/office/powerpoint/2010/main" val="30312597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50BCE79-41B5-4A11-A16E-D72E859C3342}"/>
              </a:ext>
            </a:extLst>
          </p:cNvPr>
          <p:cNvSpPr txBox="1"/>
          <p:nvPr/>
        </p:nvSpPr>
        <p:spPr>
          <a:xfrm>
            <a:off x="3386418" y="1277470"/>
            <a:ext cx="5419165" cy="499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</a:rPr>
              <a:t>正式实验中的伤亡将以这种形式呈现</a:t>
            </a:r>
            <a:endParaRPr lang="en-US" altLang="zh-CN" sz="2000" dirty="0">
              <a:solidFill>
                <a:schemeClr val="bg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B8D21A8-BFAA-44E0-8B8E-6683CA3D2DE4}"/>
              </a:ext>
            </a:extLst>
          </p:cNvPr>
          <p:cNvSpPr txBox="1"/>
          <p:nvPr/>
        </p:nvSpPr>
        <p:spPr>
          <a:xfrm>
            <a:off x="4962945" y="5656140"/>
            <a:ext cx="2266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</a:rPr>
              <a:t>按任意键继续</a:t>
            </a:r>
            <a:r>
              <a:rPr lang="en-US" altLang="zh-CN" sz="2000" dirty="0">
                <a:solidFill>
                  <a:schemeClr val="bg1"/>
                </a:solidFill>
              </a:rPr>
              <a:t>……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141EF59-F7AA-4E5C-B0E3-7B424840DB71}"/>
              </a:ext>
            </a:extLst>
          </p:cNvPr>
          <p:cNvSpPr txBox="1"/>
          <p:nvPr/>
        </p:nvSpPr>
        <p:spPr>
          <a:xfrm>
            <a:off x="4865875" y="3138568"/>
            <a:ext cx="2460251" cy="58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其他    </a:t>
            </a:r>
            <a:r>
              <a:rPr lang="en-US" altLang="zh-CN" sz="2400" b="1" dirty="0">
                <a:solidFill>
                  <a:schemeClr val="bg1"/>
                </a:solidFill>
              </a:rPr>
              <a:t>0 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</a:p>
        </p:txBody>
      </p:sp>
    </p:spTree>
    <p:extLst>
      <p:ext uri="{BB962C8B-B14F-4D97-AF65-F5344CB8AC3E}">
        <p14:creationId xmlns:p14="http://schemas.microsoft.com/office/powerpoint/2010/main" val="3252290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0F87052-BF2B-442E-9A4D-97636A6C7B0C}"/>
              </a:ext>
            </a:extLst>
          </p:cNvPr>
          <p:cNvSpPr txBox="1"/>
          <p:nvPr/>
        </p:nvSpPr>
        <p:spPr>
          <a:xfrm>
            <a:off x="4865875" y="3138568"/>
            <a:ext cx="2460251" cy="58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士兵     </a:t>
            </a:r>
            <a:r>
              <a:rPr lang="en-US" altLang="zh-CN" sz="2400" b="1" dirty="0">
                <a:solidFill>
                  <a:schemeClr val="bg1"/>
                </a:solidFill>
              </a:rPr>
              <a:t>  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</a:p>
        </p:txBody>
      </p:sp>
    </p:spTree>
    <p:extLst>
      <p:ext uri="{BB962C8B-B14F-4D97-AF65-F5344CB8AC3E}">
        <p14:creationId xmlns:p14="http://schemas.microsoft.com/office/powerpoint/2010/main" val="16563652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0F87052-BF2B-442E-9A4D-97636A6C7B0C}"/>
              </a:ext>
            </a:extLst>
          </p:cNvPr>
          <p:cNvSpPr txBox="1"/>
          <p:nvPr/>
        </p:nvSpPr>
        <p:spPr>
          <a:xfrm>
            <a:off x="4865875" y="3138568"/>
            <a:ext cx="2460251" cy="58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其他     </a:t>
            </a:r>
            <a:r>
              <a:rPr lang="en-US" altLang="zh-CN" sz="2400" b="1" dirty="0">
                <a:solidFill>
                  <a:schemeClr val="bg1"/>
                </a:solidFill>
              </a:rPr>
              <a:t>  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</a:p>
        </p:txBody>
      </p:sp>
    </p:spTree>
    <p:extLst>
      <p:ext uri="{BB962C8B-B14F-4D97-AF65-F5344CB8AC3E}">
        <p14:creationId xmlns:p14="http://schemas.microsoft.com/office/powerpoint/2010/main" val="19823745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0F87052-BF2B-442E-9A4D-97636A6C7B0C}"/>
              </a:ext>
            </a:extLst>
          </p:cNvPr>
          <p:cNvSpPr txBox="1"/>
          <p:nvPr/>
        </p:nvSpPr>
        <p:spPr>
          <a:xfrm>
            <a:off x="4865875" y="3138568"/>
            <a:ext cx="2460251" cy="58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儿童     </a:t>
            </a:r>
            <a:r>
              <a:rPr lang="en-US" altLang="zh-CN" sz="2400" b="1" dirty="0">
                <a:solidFill>
                  <a:schemeClr val="bg1"/>
                </a:solidFill>
              </a:rPr>
              <a:t>  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</a:p>
        </p:txBody>
      </p:sp>
    </p:spTree>
    <p:extLst>
      <p:ext uri="{BB962C8B-B14F-4D97-AF65-F5344CB8AC3E}">
        <p14:creationId xmlns:p14="http://schemas.microsoft.com/office/powerpoint/2010/main" val="7621483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0F87052-BF2B-442E-9A4D-97636A6C7B0C}"/>
              </a:ext>
            </a:extLst>
          </p:cNvPr>
          <p:cNvSpPr txBox="1"/>
          <p:nvPr/>
        </p:nvSpPr>
        <p:spPr>
          <a:xfrm>
            <a:off x="4865875" y="3138568"/>
            <a:ext cx="2460251" cy="58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孕妇     </a:t>
            </a:r>
            <a:r>
              <a:rPr lang="en-US" altLang="zh-CN" sz="2400" b="1" dirty="0">
                <a:solidFill>
                  <a:schemeClr val="bg1"/>
                </a:solidFill>
              </a:rPr>
              <a:t>  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</a:p>
        </p:txBody>
      </p:sp>
    </p:spTree>
    <p:extLst>
      <p:ext uri="{BB962C8B-B14F-4D97-AF65-F5344CB8AC3E}">
        <p14:creationId xmlns:p14="http://schemas.microsoft.com/office/powerpoint/2010/main" val="33316608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0F87052-BF2B-442E-9A4D-97636A6C7B0C}"/>
              </a:ext>
            </a:extLst>
          </p:cNvPr>
          <p:cNvSpPr txBox="1"/>
          <p:nvPr/>
        </p:nvSpPr>
        <p:spPr>
          <a:xfrm>
            <a:off x="4865875" y="3138568"/>
            <a:ext cx="2460251" cy="58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平民     </a:t>
            </a:r>
            <a:r>
              <a:rPr lang="en-US" altLang="zh-CN" sz="2400" b="1" dirty="0">
                <a:solidFill>
                  <a:schemeClr val="bg1"/>
                </a:solidFill>
              </a:rPr>
              <a:t>  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</a:p>
        </p:txBody>
      </p:sp>
    </p:spTree>
    <p:extLst>
      <p:ext uri="{BB962C8B-B14F-4D97-AF65-F5344CB8AC3E}">
        <p14:creationId xmlns:p14="http://schemas.microsoft.com/office/powerpoint/2010/main" val="7186611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0F87052-BF2B-442E-9A4D-97636A6C7B0C}"/>
              </a:ext>
            </a:extLst>
          </p:cNvPr>
          <p:cNvSpPr txBox="1"/>
          <p:nvPr/>
        </p:nvSpPr>
        <p:spPr>
          <a:xfrm>
            <a:off x="4865875" y="3138568"/>
            <a:ext cx="2460251" cy="58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瘾君子   </a:t>
            </a:r>
            <a:r>
              <a:rPr lang="en-US" altLang="zh-CN" sz="2400" b="1" dirty="0">
                <a:solidFill>
                  <a:schemeClr val="bg1"/>
                </a:solidFill>
              </a:rPr>
              <a:t>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</a:p>
        </p:txBody>
      </p:sp>
    </p:spTree>
    <p:extLst>
      <p:ext uri="{BB962C8B-B14F-4D97-AF65-F5344CB8AC3E}">
        <p14:creationId xmlns:p14="http://schemas.microsoft.com/office/powerpoint/2010/main" val="18651612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0F87052-BF2B-442E-9A4D-97636A6C7B0C}"/>
              </a:ext>
            </a:extLst>
          </p:cNvPr>
          <p:cNvSpPr txBox="1"/>
          <p:nvPr/>
        </p:nvSpPr>
        <p:spPr>
          <a:xfrm>
            <a:off x="4865875" y="3138568"/>
            <a:ext cx="2460251" cy="58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罪犯     </a:t>
            </a:r>
            <a:r>
              <a:rPr lang="en-US" altLang="zh-CN" sz="2400" b="1" dirty="0">
                <a:solidFill>
                  <a:schemeClr val="bg1"/>
                </a:solidFill>
              </a:rPr>
              <a:t>  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</a:p>
        </p:txBody>
      </p:sp>
    </p:spTree>
    <p:extLst>
      <p:ext uri="{BB962C8B-B14F-4D97-AF65-F5344CB8AC3E}">
        <p14:creationId xmlns:p14="http://schemas.microsoft.com/office/powerpoint/2010/main" val="25648262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0F87052-BF2B-442E-9A4D-97636A6C7B0C}"/>
              </a:ext>
            </a:extLst>
          </p:cNvPr>
          <p:cNvSpPr txBox="1"/>
          <p:nvPr/>
        </p:nvSpPr>
        <p:spPr>
          <a:xfrm>
            <a:off x="4865875" y="3138568"/>
            <a:ext cx="2460251" cy="58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发射</a:t>
            </a:r>
          </a:p>
        </p:txBody>
      </p:sp>
    </p:spTree>
    <p:extLst>
      <p:ext uri="{BB962C8B-B14F-4D97-AF65-F5344CB8AC3E}">
        <p14:creationId xmlns:p14="http://schemas.microsoft.com/office/powerpoint/2010/main" val="15061886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0F87052-BF2B-442E-9A4D-97636A6C7B0C}"/>
              </a:ext>
            </a:extLst>
          </p:cNvPr>
          <p:cNvSpPr txBox="1"/>
          <p:nvPr/>
        </p:nvSpPr>
        <p:spPr>
          <a:xfrm>
            <a:off x="4865875" y="3138568"/>
            <a:ext cx="2460251" cy="58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u="sng" dirty="0">
                <a:solidFill>
                  <a:schemeClr val="bg1"/>
                </a:solidFill>
              </a:rPr>
              <a:t>发射</a:t>
            </a:r>
          </a:p>
        </p:txBody>
      </p:sp>
    </p:spTree>
    <p:extLst>
      <p:ext uri="{BB962C8B-B14F-4D97-AF65-F5344CB8AC3E}">
        <p14:creationId xmlns:p14="http://schemas.microsoft.com/office/powerpoint/2010/main" val="404352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627</Words>
  <Application>Microsoft Office PowerPoint</Application>
  <PresentationFormat>宽屏</PresentationFormat>
  <Paragraphs>74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29" baseType="lpstr">
      <vt:lpstr>等线</vt:lpstr>
      <vt:lpstr>微软雅黑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林 浩东</dc:creator>
  <cp:lastModifiedBy>林 浩东</cp:lastModifiedBy>
  <cp:revision>26</cp:revision>
  <dcterms:created xsi:type="dcterms:W3CDTF">2024-12-02T13:39:50Z</dcterms:created>
  <dcterms:modified xsi:type="dcterms:W3CDTF">2025-04-24T10:12:20Z</dcterms:modified>
</cp:coreProperties>
</file>